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1596-88B6-07D3-D0B6-C0A0C14F1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96429-6A02-424E-F524-8DC415263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E8731-2BC7-B023-C562-9778E3C8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9613F-EA39-4360-36C5-6C3175FB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07F7-422E-F88F-B9AE-8136C0B7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6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0511-1315-1E7F-B7B5-0509C3BF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BDFB7-C77C-DF0D-6D6D-F58DD3630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ACC7E-EE46-A4BC-DBC8-81984A85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63D1F-302D-C0FA-BF60-5D1555A30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4A4F6-D320-9B1D-CE5C-05E97059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75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3764-A707-5F01-0D6B-4F572EAF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D94B5-9C98-594E-F88B-263E1E90D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EEB1B-BAE7-A093-4E48-3E4B0C3E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BEAF3-EEA4-E718-0459-99E0C3A9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2277F-67FF-0B87-E87C-8D79B09B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63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246AF-46D9-CF3C-C826-85180C68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615B9-022F-BBBE-FBC9-3ABBBDFE9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A37B5-3F00-18B8-DF76-A37691FA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C4643-5571-9DA7-53AF-F25AA400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40D97-6802-2E49-F301-EA78EB7D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7F9C7-8ABA-7CB8-3AB4-C0E6F708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04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EAF1-D520-DAB8-B670-52D7C9BF7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1A506-EF64-BC63-6DBD-40D90D598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ED3A9-9221-DDA9-554C-B859DA602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DE15C-8E23-21C3-2D83-E00D980F5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42638-7693-E8EC-126F-AEDA9F070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D08B9-8003-E3D3-480D-B3039384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8CF87-0953-6512-F0ED-657C49B07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C47BA-F986-AF23-FDDC-58803CBD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2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C4905-B820-1026-9EB6-A6EED9B8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BF288-7604-17AA-2E35-D815A737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A135-4AB9-C1B9-9230-AF22E7FF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C26B0-AD4C-74A8-9FB7-05181F03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9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2E3186-D13F-6D3F-7C62-FC9B1082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29B75-C7C0-DD04-D9D5-3A5E66A8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076D3-C4EA-71D5-334E-CBD4CFF7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3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3B6D-9176-EDF9-53F7-05E3D38ED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B8EAF-4024-A17D-572F-EF01395B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67AFC-85AC-3CA6-3419-61AD32D86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7959F-6EA8-175E-40E2-2286547D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5629A-CE1D-5D8A-B60E-D4CA5C4C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4D03F-3213-BF13-D211-9CB119B7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80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2FC8-EFB2-7A69-584E-42A25FC6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5AC53-D846-057C-82E3-0BF7C70BD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7586C-F679-2DA6-4D59-E5774420E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6B72-4A41-0360-83CF-5BA188BD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10797-01A0-9965-DCB4-1DAF7B9D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D8EB7-99BD-F7A9-B1C1-397372B9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8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E8A3-8396-4496-871D-D7752825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1EEAA-0B1B-56E9-C203-05EAA31B6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D625-3374-9C3E-247F-3D47518F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A6C65-A2FD-1025-86ED-7A7D609E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DD03-5A74-3C68-E6CA-621A1BD9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0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610FC-0094-7E88-0E7D-462719046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E34D4-5E98-7765-01A8-E6CDFB198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9D77C-6991-EA36-7B63-EB1D5917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43123-A4A5-1882-8CCB-A8BCDEE5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8077-0130-A41E-313F-40FEA775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52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3FCEF-A000-B6C2-BFA1-B998FA834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4EED5-3772-6725-21AD-0EFA62E73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5185E-2326-BCE8-9E73-6059AE425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317DC-C6B2-47DF-9DFC-3F8B10B18AD0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05F76-99F4-D6EF-4F4E-2A248CB37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43D4D-B71E-4C38-EBD5-A35C3278C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A2A7-24E8-4B9F-856C-F49DE0A64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57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AED3-9C02-4DFB-CFF0-ED205189A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Mutual Fund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691E-2BE0-C442-3A2E-2EB7F81D0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398"/>
            <a:ext cx="9144000" cy="256540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Capstone Project</a:t>
            </a:r>
          </a:p>
          <a:p>
            <a:endParaRPr lang="en-US" dirty="0"/>
          </a:p>
          <a:p>
            <a:r>
              <a:rPr lang="en-US" dirty="0"/>
              <a:t>Submitted By : </a:t>
            </a:r>
          </a:p>
          <a:p>
            <a:r>
              <a:rPr lang="en-US" dirty="0"/>
              <a:t>Shreyash </a:t>
            </a:r>
            <a:r>
              <a:rPr lang="en-US" dirty="0" err="1"/>
              <a:t>Pise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Bluestock</a:t>
            </a:r>
            <a:r>
              <a:rPr lang="en-US" dirty="0"/>
              <a:t> Fintech </a:t>
            </a:r>
            <a:r>
              <a:rPr lang="en-US" dirty="0" err="1"/>
              <a:t>Intership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12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897C-27A3-AE69-485C-2BD6334AD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280" y="-384047"/>
            <a:ext cx="10515600" cy="1865375"/>
          </a:xfrm>
        </p:spPr>
        <p:txBody>
          <a:bodyPr/>
          <a:lstStyle/>
          <a:p>
            <a:r>
              <a:rPr lang="en-IN" dirty="0"/>
              <a:t>Project Overview 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4680-23D3-4368-1BB9-E7808B874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720" y="950976"/>
            <a:ext cx="10515600" cy="581558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Objective:</a:t>
            </a:r>
          </a:p>
          <a:p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mutual fund performance</a:t>
            </a:r>
          </a:p>
          <a:p>
            <a:r>
              <a:rPr lang="en-IN" dirty="0"/>
              <a:t>• Clean and validate financial data</a:t>
            </a:r>
          </a:p>
          <a:p>
            <a:r>
              <a:rPr lang="en-IN" dirty="0"/>
              <a:t>• Build SQL database</a:t>
            </a:r>
          </a:p>
          <a:p>
            <a:r>
              <a:rPr lang="en-IN" dirty="0"/>
              <a:t>• Perform Exploratory Data Analysis</a:t>
            </a:r>
          </a:p>
          <a:p>
            <a:r>
              <a:rPr lang="en-IN" dirty="0"/>
              <a:t>• Calculate financial metrics</a:t>
            </a:r>
          </a:p>
          <a:p>
            <a:r>
              <a:rPr lang="en-IN" dirty="0"/>
              <a:t>• Generate insights for investors</a:t>
            </a:r>
          </a:p>
          <a:p>
            <a:endParaRPr lang="en-IN" dirty="0"/>
          </a:p>
          <a:p>
            <a:r>
              <a:rPr lang="en-IN" dirty="0"/>
              <a:t>Tools Used:</a:t>
            </a:r>
          </a:p>
          <a:p>
            <a:r>
              <a:rPr lang="en-IN" dirty="0"/>
              <a:t>• Python</a:t>
            </a:r>
          </a:p>
          <a:p>
            <a:r>
              <a:rPr lang="en-IN" dirty="0"/>
              <a:t>• Pandas</a:t>
            </a:r>
          </a:p>
          <a:p>
            <a:r>
              <a:rPr lang="en-IN" dirty="0"/>
              <a:t>• SQLite</a:t>
            </a:r>
          </a:p>
          <a:p>
            <a:r>
              <a:rPr lang="en-IN" dirty="0"/>
              <a:t>• </a:t>
            </a:r>
            <a:r>
              <a:rPr lang="en-IN" dirty="0" err="1"/>
              <a:t>SQLAlchemy</a:t>
            </a:r>
            <a:endParaRPr lang="en-IN" dirty="0"/>
          </a:p>
          <a:p>
            <a:r>
              <a:rPr lang="en-IN" dirty="0"/>
              <a:t>• Matplotlib</a:t>
            </a:r>
          </a:p>
          <a:p>
            <a:r>
              <a:rPr lang="en-IN" dirty="0"/>
              <a:t>• Seaborn</a:t>
            </a:r>
          </a:p>
          <a:p>
            <a:r>
              <a:rPr lang="en-IN" dirty="0"/>
              <a:t>• Plotly</a:t>
            </a:r>
          </a:p>
          <a:p>
            <a:r>
              <a:rPr lang="en-IN" dirty="0"/>
              <a:t>•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14956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8CA8-312D-5BE0-8A7C-245266EC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91" y="-334123"/>
            <a:ext cx="10515600" cy="1325563"/>
          </a:xfrm>
        </p:spPr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30ACC-88DB-77B7-A27E-93698F505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518" y="991440"/>
            <a:ext cx="10515600" cy="5660371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Raw CSV Data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Data Ingestion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Data Cleaning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Processed Data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SQLite Database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EDA Analysis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Performance Analytics</a:t>
            </a:r>
          </a:p>
          <a:p>
            <a:pPr marL="0" indent="0">
              <a:buNone/>
            </a:pPr>
            <a:r>
              <a:rPr lang="en-IN" dirty="0"/>
              <a:t>            ↓</a:t>
            </a:r>
          </a:p>
          <a:p>
            <a:r>
              <a:rPr lang="en-IN" dirty="0"/>
              <a:t>Insights &amp; Reports</a:t>
            </a:r>
          </a:p>
        </p:txBody>
      </p:sp>
    </p:spTree>
    <p:extLst>
      <p:ext uri="{BB962C8B-B14F-4D97-AF65-F5344CB8AC3E}">
        <p14:creationId xmlns:p14="http://schemas.microsoft.com/office/powerpoint/2010/main" val="159680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5427-6D85-DE67-E234-19690FA72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-320675"/>
            <a:ext cx="10515600" cy="1325563"/>
          </a:xfrm>
        </p:spPr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8AC1-CACE-3474-30E8-9F4F28707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250" y="723900"/>
            <a:ext cx="5181600" cy="6134100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Objective</a:t>
            </a:r>
          </a:p>
          <a:p>
            <a:r>
              <a:rPr lang="en-IN" dirty="0"/>
              <a:t>The project uses mutual fund industry datasets to </a:t>
            </a:r>
            <a:r>
              <a:rPr lang="en-IN" dirty="0" err="1"/>
              <a:t>analyze</a:t>
            </a:r>
            <a:r>
              <a:rPr lang="en-IN" dirty="0"/>
              <a:t> fund performance, investor </a:t>
            </a:r>
            <a:r>
              <a:rPr lang="en-IN" dirty="0" err="1"/>
              <a:t>behavior</a:t>
            </a:r>
            <a:r>
              <a:rPr lang="en-IN" dirty="0"/>
              <a:t> , risk metrics, and market tree</a:t>
            </a:r>
            <a:endParaRPr lang="en-IN" b="1" dirty="0"/>
          </a:p>
          <a:p>
            <a:r>
              <a:rPr lang="en-IN" b="1" dirty="0"/>
              <a:t>1. Fund Master Dataset</a:t>
            </a:r>
          </a:p>
          <a:p>
            <a:r>
              <a:rPr lang="en-IN" b="1" dirty="0"/>
              <a:t>File:</a:t>
            </a:r>
            <a:r>
              <a:rPr lang="en-IN" dirty="0"/>
              <a:t>fund_master.csv</a:t>
            </a:r>
          </a:p>
          <a:p>
            <a:r>
              <a:rPr lang="en-IN" b="1" dirty="0"/>
              <a:t>Purpose: </a:t>
            </a:r>
            <a:r>
              <a:rPr lang="en-IN" dirty="0"/>
              <a:t>Contains master information about mutual fund schemes.</a:t>
            </a:r>
          </a:p>
          <a:p>
            <a:r>
              <a:rPr lang="en-IN" b="1" dirty="0"/>
              <a:t>Key Columns:</a:t>
            </a:r>
            <a:endParaRPr lang="en-IN" dirty="0"/>
          </a:p>
          <a:p>
            <a:r>
              <a:rPr lang="en-IN" dirty="0" err="1"/>
              <a:t>amfi_code</a:t>
            </a:r>
            <a:br>
              <a:rPr lang="en-IN" dirty="0"/>
            </a:br>
            <a:r>
              <a:rPr lang="en-IN" dirty="0" err="1"/>
              <a:t>scheme_name</a:t>
            </a:r>
            <a:br>
              <a:rPr lang="en-IN" dirty="0"/>
            </a:br>
            <a:r>
              <a:rPr lang="en-IN" dirty="0" err="1"/>
              <a:t>fund_house</a:t>
            </a:r>
            <a:br>
              <a:rPr lang="en-IN" dirty="0"/>
            </a:br>
            <a:r>
              <a:rPr lang="en-IN" dirty="0"/>
              <a:t>category</a:t>
            </a:r>
            <a:br>
              <a:rPr lang="en-IN" dirty="0"/>
            </a:br>
            <a:r>
              <a:rPr lang="en-IN" dirty="0"/>
              <a:t>plan</a:t>
            </a:r>
            <a:br>
              <a:rPr lang="en-IN" dirty="0"/>
            </a:br>
            <a:r>
              <a:rPr lang="en-IN" dirty="0" err="1"/>
              <a:t>risk_grade</a:t>
            </a:r>
            <a:br>
              <a:rPr lang="en-IN" dirty="0"/>
            </a:br>
            <a:r>
              <a:rPr lang="en-IN" dirty="0" err="1"/>
              <a:t>expense_ratio_pct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  2. NAV History Dataset</a:t>
            </a:r>
          </a:p>
          <a:p>
            <a:r>
              <a:rPr lang="en-IN" b="1" dirty="0"/>
              <a:t>File:</a:t>
            </a:r>
            <a:endParaRPr lang="en-IN" dirty="0"/>
          </a:p>
          <a:p>
            <a:r>
              <a:rPr lang="en-IN" dirty="0"/>
              <a:t>nav_history.csv</a:t>
            </a:r>
          </a:p>
          <a:p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Stores historical Net Asset Value (NAV) data for mutual funds.</a:t>
            </a:r>
          </a:p>
          <a:p>
            <a:r>
              <a:rPr lang="en-IN" b="1" dirty="0"/>
              <a:t>Key Columns:</a:t>
            </a:r>
            <a:endParaRPr lang="en-IN" dirty="0"/>
          </a:p>
          <a:p>
            <a:r>
              <a:rPr lang="en-IN" dirty="0" err="1"/>
              <a:t>amfi_code</a:t>
            </a:r>
            <a:br>
              <a:rPr lang="en-IN" dirty="0"/>
            </a:br>
            <a:r>
              <a:rPr lang="en-IN" dirty="0"/>
              <a:t>date</a:t>
            </a:r>
            <a:br>
              <a:rPr lang="en-IN" dirty="0"/>
            </a:br>
            <a:r>
              <a:rPr lang="en-IN" dirty="0"/>
              <a:t>nav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9B1F-738B-C990-9547-CC3473071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23900"/>
            <a:ext cx="5543550" cy="5791200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3. Scheme Performance Dataset</a:t>
            </a:r>
          </a:p>
          <a:p>
            <a:r>
              <a:rPr lang="en-IN" b="1" dirty="0"/>
              <a:t>File: </a:t>
            </a:r>
            <a:r>
              <a:rPr lang="en-IN" dirty="0"/>
              <a:t>scheme_performance.csv</a:t>
            </a:r>
          </a:p>
          <a:p>
            <a:r>
              <a:rPr lang="en-IN" b="1" dirty="0"/>
              <a:t>Purpose : </a:t>
            </a:r>
            <a:r>
              <a:rPr lang="en-IN" dirty="0"/>
              <a:t>Contains performance and risk metrics for each scheme.</a:t>
            </a:r>
          </a:p>
          <a:p>
            <a:r>
              <a:rPr lang="en-IN" b="1" dirty="0"/>
              <a:t>Key Columns:</a:t>
            </a:r>
            <a:endParaRPr lang="en-IN" dirty="0"/>
          </a:p>
          <a:p>
            <a:r>
              <a:rPr lang="en-IN" dirty="0"/>
              <a:t>return_1yr_pct</a:t>
            </a:r>
            <a:br>
              <a:rPr lang="en-IN" dirty="0"/>
            </a:br>
            <a:r>
              <a:rPr lang="en-IN" dirty="0"/>
              <a:t>return_3yr_pct</a:t>
            </a:r>
            <a:br>
              <a:rPr lang="en-IN" dirty="0"/>
            </a:br>
            <a:r>
              <a:rPr lang="en-IN" dirty="0"/>
              <a:t>return_5yr_pct</a:t>
            </a:r>
            <a:br>
              <a:rPr lang="en-IN" dirty="0"/>
            </a:br>
            <a:r>
              <a:rPr lang="en-IN" dirty="0"/>
              <a:t>alpha</a:t>
            </a:r>
            <a:br>
              <a:rPr lang="en-IN" dirty="0"/>
            </a:br>
            <a:r>
              <a:rPr lang="en-IN" dirty="0"/>
              <a:t>beta</a:t>
            </a:r>
            <a:br>
              <a:rPr lang="en-IN" dirty="0"/>
            </a:br>
            <a:r>
              <a:rPr lang="en-IN" dirty="0" err="1"/>
              <a:t>sharpe_ratio</a:t>
            </a:r>
            <a:br>
              <a:rPr lang="en-IN" dirty="0"/>
            </a:br>
            <a:r>
              <a:rPr lang="en-IN" dirty="0" err="1"/>
              <a:t>sortino_ratio</a:t>
            </a:r>
            <a:endParaRPr lang="en-IN" dirty="0"/>
          </a:p>
          <a:p>
            <a:br>
              <a:rPr lang="en-IN" dirty="0"/>
            </a:br>
            <a:r>
              <a:rPr lang="en-IN" b="1" dirty="0"/>
              <a:t>4. Investor Transactions Dataset</a:t>
            </a:r>
          </a:p>
          <a:p>
            <a:r>
              <a:rPr lang="en-IN" b="1" dirty="0"/>
              <a:t>File: </a:t>
            </a:r>
            <a:r>
              <a:rPr lang="en-IN" dirty="0"/>
              <a:t>investor_transactions.csv</a:t>
            </a:r>
          </a:p>
          <a:p>
            <a:r>
              <a:rPr lang="en-IN" b="1" dirty="0"/>
              <a:t>Purpose : </a:t>
            </a:r>
            <a:r>
              <a:rPr lang="en-IN" dirty="0"/>
              <a:t>Contains investor transaction details and investment patterns.</a:t>
            </a:r>
          </a:p>
          <a:p>
            <a:r>
              <a:rPr lang="en-IN" b="1" dirty="0"/>
              <a:t>Key Columns:</a:t>
            </a:r>
            <a:endParaRPr lang="en-IN" dirty="0"/>
          </a:p>
          <a:p>
            <a:r>
              <a:rPr lang="en-IN" dirty="0" err="1"/>
              <a:t>investor_id</a:t>
            </a:r>
            <a:br>
              <a:rPr lang="en-IN" dirty="0"/>
            </a:br>
            <a:r>
              <a:rPr lang="en-IN" dirty="0" err="1"/>
              <a:t>transaction_date</a:t>
            </a:r>
            <a:br>
              <a:rPr lang="en-IN" dirty="0"/>
            </a:br>
            <a:r>
              <a:rPr lang="en-IN" dirty="0" err="1"/>
              <a:t>transaction_type</a:t>
            </a:r>
            <a:br>
              <a:rPr lang="en-IN" dirty="0"/>
            </a:br>
            <a:r>
              <a:rPr lang="en-IN" dirty="0" err="1"/>
              <a:t>amount_inr</a:t>
            </a:r>
            <a:br>
              <a:rPr lang="en-IN" dirty="0"/>
            </a:br>
            <a:r>
              <a:rPr lang="en-IN" dirty="0"/>
              <a:t>gender</a:t>
            </a:r>
            <a:br>
              <a:rPr lang="en-IN" dirty="0"/>
            </a:br>
            <a:r>
              <a:rPr lang="en-IN" dirty="0"/>
              <a:t>state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41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58D2-C488-8B76-FFF8-6379005E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091"/>
            <a:ext cx="10515600" cy="1325563"/>
          </a:xfrm>
        </p:spPr>
        <p:txBody>
          <a:bodyPr/>
          <a:lstStyle/>
          <a:p>
            <a:r>
              <a:rPr lang="en-US" dirty="0"/>
              <a:t>Day 1 - ETL &amp; Data Ingestion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6FBC-D2FB-7412-C720-DBD2DF7B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016"/>
            <a:ext cx="6092952" cy="5514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Tasks Completed: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✓ Created project structure</a:t>
            </a:r>
          </a:p>
          <a:p>
            <a:pPr marL="0" indent="0">
              <a:buNone/>
            </a:pPr>
            <a:r>
              <a:rPr lang="en-IN" dirty="0"/>
              <a:t>✓ Set up Python virtual environment</a:t>
            </a:r>
          </a:p>
          <a:p>
            <a:pPr marL="0" indent="0">
              <a:buNone/>
            </a:pPr>
            <a:r>
              <a:rPr lang="en-IN" dirty="0"/>
              <a:t>✓ Installed required libraries</a:t>
            </a:r>
          </a:p>
          <a:p>
            <a:pPr marL="0" indent="0">
              <a:buNone/>
            </a:pPr>
            <a:r>
              <a:rPr lang="en-IN" dirty="0"/>
              <a:t>✓ Loaded CSV datasets</a:t>
            </a:r>
          </a:p>
          <a:p>
            <a:pPr marL="0" indent="0">
              <a:buNone/>
            </a:pPr>
            <a:r>
              <a:rPr lang="en-IN" dirty="0"/>
              <a:t>✓ Fetched live NAV data using AMFI API</a:t>
            </a:r>
          </a:p>
          <a:p>
            <a:pPr marL="0" indent="0">
              <a:buNone/>
            </a:pPr>
            <a:r>
              <a:rPr lang="en-IN" dirty="0"/>
              <a:t>✓ Saved raw data in CSV format</a:t>
            </a:r>
          </a:p>
          <a:p>
            <a:pPr marL="0" indent="0">
              <a:buNone/>
            </a:pPr>
            <a:r>
              <a:rPr lang="en-IN" dirty="0"/>
              <a:t>✓ Configured Git and GitHub</a:t>
            </a:r>
          </a:p>
          <a:p>
            <a:pPr marL="0" indent="0">
              <a:buNone/>
            </a:pPr>
            <a:r>
              <a:rPr lang="en-IN" dirty="0"/>
              <a:t>✓ Uploaded project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F23C0-2F6A-9EA8-7884-FC60CBED0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632" y="0"/>
            <a:ext cx="3706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77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2EB9-F3D4-62FF-560C-2EC1D87B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104647"/>
            <a:ext cx="6147816" cy="1152779"/>
          </a:xfrm>
        </p:spPr>
        <p:txBody>
          <a:bodyPr>
            <a:normAutofit fontScale="90000"/>
          </a:bodyPr>
          <a:lstStyle/>
          <a:p>
            <a:r>
              <a:rPr lang="en-US" dirty="0"/>
              <a:t>Day 2 - Data Cleaning &amp; SQL Database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12E8B-9241-0AB9-A1FF-D96DF4EF9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68" y="1345691"/>
            <a:ext cx="5361432" cy="540766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Data Cleaning: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Removed duplicates</a:t>
            </a:r>
          </a:p>
          <a:p>
            <a:pPr marL="0" indent="0">
              <a:buNone/>
            </a:pPr>
            <a:r>
              <a:rPr lang="en-IN" dirty="0"/>
              <a:t>✓ Handled missing values</a:t>
            </a:r>
          </a:p>
          <a:p>
            <a:pPr marL="0" indent="0">
              <a:buNone/>
            </a:pPr>
            <a:r>
              <a:rPr lang="en-IN" dirty="0"/>
              <a:t>✓ Converted data types</a:t>
            </a:r>
          </a:p>
          <a:p>
            <a:pPr marL="0" indent="0">
              <a:buNone/>
            </a:pPr>
            <a:r>
              <a:rPr lang="en-IN" dirty="0"/>
              <a:t>✓ Validated NAV values</a:t>
            </a:r>
          </a:p>
          <a:p>
            <a:pPr marL="0" indent="0">
              <a:buNone/>
            </a:pPr>
            <a:r>
              <a:rPr lang="en-IN" dirty="0"/>
              <a:t>✓ Standardized transaction types  </a:t>
            </a:r>
          </a:p>
          <a:p>
            <a:endParaRPr lang="en-IN" dirty="0"/>
          </a:p>
          <a:p>
            <a:r>
              <a:rPr lang="en-IN" dirty="0"/>
              <a:t>Database Design: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✓ SQLite database created</a:t>
            </a:r>
          </a:p>
          <a:p>
            <a:pPr marL="0" indent="0">
              <a:buNone/>
            </a:pPr>
            <a:r>
              <a:rPr lang="en-IN" dirty="0"/>
              <a:t>✓ Fact tables</a:t>
            </a:r>
          </a:p>
          <a:p>
            <a:pPr marL="0" indent="0">
              <a:buNone/>
            </a:pPr>
            <a:r>
              <a:rPr lang="en-IN" dirty="0"/>
              <a:t>✓ Dimension tables</a:t>
            </a:r>
          </a:p>
          <a:p>
            <a:pPr marL="0" indent="0">
              <a:buNone/>
            </a:pPr>
            <a:r>
              <a:rPr lang="en-IN" dirty="0"/>
              <a:t>✓ Data dictionary prepared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67B0AC-620F-4E24-9375-AD2BC0E3C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672" y="0"/>
            <a:ext cx="4529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2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75D78-91B2-D71B-5B74-FFDE1FAF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6915912" cy="787019"/>
          </a:xfrm>
        </p:spPr>
        <p:txBody>
          <a:bodyPr>
            <a:normAutofit fontScale="90000"/>
          </a:bodyPr>
          <a:lstStyle/>
          <a:p>
            <a:r>
              <a:rPr lang="en-US" dirty="0"/>
              <a:t>Day 3 -Exploratory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36796-36C1-AA70-8DB3-7D03BC3A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787018"/>
            <a:ext cx="4977384" cy="5869813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EDA Performed: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NAV Trend Analysis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AUM Analysis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SIP Inflow Analysis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Geographic Distribution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Category Heatmaps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Correlation Analysis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Investor Demographics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17FA1-6D97-BBE9-FD5D-08B9F4ACD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088" y="787017"/>
            <a:ext cx="8058912" cy="55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9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95C8-EBBA-48F2-8E4B-51BED9400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45669"/>
            <a:ext cx="7391400" cy="768731"/>
          </a:xfrm>
        </p:spPr>
        <p:txBody>
          <a:bodyPr>
            <a:normAutofit fontScale="90000"/>
          </a:bodyPr>
          <a:lstStyle/>
          <a:p>
            <a:r>
              <a:rPr lang="en-US" dirty="0"/>
              <a:t>Day 4 - Fund Performance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7880A-39AE-B7B4-8A75-0F5816C02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253331"/>
            <a:ext cx="4447032" cy="5459000"/>
          </a:xfrm>
        </p:spPr>
        <p:txBody>
          <a:bodyPr>
            <a:normAutofit/>
          </a:bodyPr>
          <a:lstStyle/>
          <a:p>
            <a:r>
              <a:rPr lang="en-IN" dirty="0"/>
              <a:t>Metrics Calculated: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✓ Daily Return</a:t>
            </a:r>
          </a:p>
          <a:p>
            <a:pPr marL="0" indent="0">
              <a:buNone/>
            </a:pPr>
            <a:r>
              <a:rPr lang="en-IN" dirty="0"/>
              <a:t>✓ CAGR</a:t>
            </a:r>
          </a:p>
          <a:p>
            <a:pPr marL="0" indent="0">
              <a:buNone/>
            </a:pPr>
            <a:r>
              <a:rPr lang="en-IN" dirty="0"/>
              <a:t>✓ Sharpe Ratio</a:t>
            </a:r>
          </a:p>
          <a:p>
            <a:pPr marL="0" indent="0">
              <a:buNone/>
            </a:pPr>
            <a:r>
              <a:rPr lang="en-IN" dirty="0"/>
              <a:t>✓ Sortino Ratio</a:t>
            </a:r>
          </a:p>
          <a:p>
            <a:pPr marL="0" indent="0">
              <a:buNone/>
            </a:pPr>
            <a:r>
              <a:rPr lang="en-IN" dirty="0"/>
              <a:t>✓ Alpha</a:t>
            </a:r>
          </a:p>
          <a:p>
            <a:pPr marL="0" indent="0">
              <a:buNone/>
            </a:pPr>
            <a:r>
              <a:rPr lang="en-IN" dirty="0"/>
              <a:t>✓ Beta</a:t>
            </a:r>
          </a:p>
          <a:p>
            <a:pPr marL="0" indent="0">
              <a:buNone/>
            </a:pPr>
            <a:r>
              <a:rPr lang="en-IN" dirty="0"/>
              <a:t>✓ Maximum Drawdown</a:t>
            </a:r>
          </a:p>
          <a:p>
            <a:pPr marL="0" indent="0">
              <a:buNone/>
            </a:pPr>
            <a:r>
              <a:rPr lang="en-IN" dirty="0"/>
              <a:t>✓ Fund Ranking Scorecard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C5999-7F9D-B2A4-9D54-4181DA164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75" y="523470"/>
            <a:ext cx="5191850" cy="3225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D45A5-A4AC-D0E6-FDCF-9AC24EF24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721" y="3982831"/>
            <a:ext cx="4650957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B5DC45-DBC9-F37A-4D03-2F40FAA6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2405"/>
            <a:ext cx="10515600" cy="1325563"/>
          </a:xfrm>
        </p:spPr>
        <p:txBody>
          <a:bodyPr/>
          <a:lstStyle/>
          <a:p>
            <a:r>
              <a:rPr lang="en-US" dirty="0"/>
              <a:t>Day 5- Interactive Power BI Dashboard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7E8FE6D-10BF-CC07-5018-090F39CF2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224" y="1063158"/>
            <a:ext cx="5822576" cy="5113805"/>
          </a:xfrm>
        </p:spPr>
        <p:txBody>
          <a:bodyPr/>
          <a:lstStyle/>
          <a:p>
            <a:r>
              <a:rPr lang="en-US" dirty="0"/>
              <a:t>Figure 1: Industry Overview Dashboard</a:t>
            </a:r>
          </a:p>
          <a:p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2304E39-E1FC-0A03-FE6B-37D6F65A6C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12" y="2142061"/>
            <a:ext cx="5181600" cy="40349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92DE75-9211-24F4-4117-F08D5505575A}"/>
              </a:ext>
            </a:extLst>
          </p:cNvPr>
          <p:cNvSpPr txBox="1"/>
          <p:nvPr/>
        </p:nvSpPr>
        <p:spPr>
          <a:xfrm>
            <a:off x="6172202" y="1063158"/>
            <a:ext cx="52533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Figure 2: Fund Performance Dashboard</a:t>
            </a:r>
            <a:endParaRPr lang="en-IN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2BEB20-6C48-E0B7-2058-7FA480BE8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142061"/>
            <a:ext cx="5822576" cy="403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33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443091-148A-CED6-D405-7A8998EB8A2F}"/>
              </a:ext>
            </a:extLst>
          </p:cNvPr>
          <p:cNvSpPr txBox="1"/>
          <p:nvPr/>
        </p:nvSpPr>
        <p:spPr>
          <a:xfrm>
            <a:off x="6225990" y="749392"/>
            <a:ext cx="52533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Figure 2: SIP &amp; Market Trends Dashboard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9924A-72E4-07A6-8BB3-B9723C6D52ED}"/>
              </a:ext>
            </a:extLst>
          </p:cNvPr>
          <p:cNvSpPr txBox="1"/>
          <p:nvPr/>
        </p:nvSpPr>
        <p:spPr>
          <a:xfrm>
            <a:off x="515473" y="749393"/>
            <a:ext cx="52533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Figure 3: Investor Analytics  Dashboard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86F2C3-05EC-8DF3-9352-2649AF52C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94" y="1703500"/>
            <a:ext cx="5253317" cy="4231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18E5F1-5262-E7DB-5D81-562045970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396" y="1703499"/>
            <a:ext cx="6360504" cy="423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7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1073-64D1-7142-9E34-EE10AABC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17" y="-280334"/>
            <a:ext cx="10515600" cy="1325563"/>
          </a:xfrm>
        </p:spPr>
        <p:txBody>
          <a:bodyPr/>
          <a:lstStyle/>
          <a:p>
            <a:r>
              <a:rPr lang="en-US" dirty="0"/>
              <a:t>Day 6- Advanced Analytics &amp; Risk Assessment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4BBF2-8CB9-5E14-2E2F-2D4988A7A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88894"/>
            <a:ext cx="5181600" cy="53880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Perform advanced risk analysis and investor </a:t>
            </a:r>
            <a:r>
              <a:rPr lang="en-IN" dirty="0" err="1"/>
              <a:t>behavior</a:t>
            </a:r>
            <a:r>
              <a:rPr lang="en-IN" dirty="0"/>
              <a:t> analytics using historical NAV and transaction data.</a:t>
            </a:r>
          </a:p>
          <a:p>
            <a:pPr marL="0" indent="0">
              <a:buNone/>
            </a:pPr>
            <a:r>
              <a:rPr lang="en-IN" b="1" dirty="0"/>
              <a:t>Implemented Techniques</a:t>
            </a:r>
          </a:p>
          <a:p>
            <a:pPr marL="0" indent="0">
              <a:buNone/>
            </a:pPr>
            <a:r>
              <a:rPr lang="en-IN" b="1" dirty="0"/>
              <a:t>1. Historical Value at Risk (</a:t>
            </a:r>
            <a:r>
              <a:rPr lang="en-IN" b="1" dirty="0" err="1"/>
              <a:t>VaR</a:t>
            </a:r>
            <a:r>
              <a:rPr lang="en-IN" b="1" dirty="0"/>
              <a:t>)</a:t>
            </a:r>
          </a:p>
          <a:p>
            <a:r>
              <a:rPr lang="en-IN" dirty="0"/>
              <a:t>Confidence Level: 95% </a:t>
            </a:r>
          </a:p>
          <a:p>
            <a:r>
              <a:rPr lang="en-IN" dirty="0"/>
              <a:t>Measures maximum expected portfolio loss. </a:t>
            </a:r>
          </a:p>
          <a:p>
            <a:pPr marL="0" indent="0">
              <a:buNone/>
            </a:pPr>
            <a:r>
              <a:rPr lang="en-IN" b="1" dirty="0"/>
              <a:t>2. Conditional Value at Risk (CVaR)</a:t>
            </a:r>
          </a:p>
          <a:p>
            <a:r>
              <a:rPr lang="en-IN" dirty="0"/>
              <a:t>Measures average loss beyond </a:t>
            </a:r>
            <a:r>
              <a:rPr lang="en-IN" dirty="0" err="1"/>
              <a:t>VaR.</a:t>
            </a:r>
            <a:r>
              <a:rPr lang="en-IN" dirty="0"/>
              <a:t> </a:t>
            </a:r>
          </a:p>
          <a:p>
            <a:r>
              <a:rPr lang="en-IN" dirty="0"/>
              <a:t>Captures tail risk. </a:t>
            </a:r>
          </a:p>
          <a:p>
            <a:pPr marL="0" indent="0">
              <a:buNone/>
            </a:pPr>
            <a:r>
              <a:rPr lang="en-IN" b="1" dirty="0"/>
              <a:t>3. Rolling Sharpe Ratio</a:t>
            </a:r>
          </a:p>
          <a:p>
            <a:r>
              <a:rPr lang="en-IN" dirty="0"/>
              <a:t>90-Day Rolling Window </a:t>
            </a:r>
          </a:p>
          <a:p>
            <a:r>
              <a:rPr lang="en-IN" dirty="0"/>
              <a:t>Evaluates risk-adjusted returns over time.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904CF-62A9-3646-E934-D2F460B1B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88894"/>
            <a:ext cx="5181600" cy="53880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4. Investor Cohort Analysis</a:t>
            </a:r>
          </a:p>
          <a:p>
            <a:r>
              <a:rPr lang="en-IN" dirty="0"/>
              <a:t>Grouped investors by transaction year. </a:t>
            </a:r>
          </a:p>
          <a:p>
            <a:r>
              <a:rPr lang="en-IN" dirty="0" err="1"/>
              <a:t>Analyzed</a:t>
            </a:r>
            <a:r>
              <a:rPr lang="en-IN" dirty="0"/>
              <a:t> long-term participation. </a:t>
            </a:r>
          </a:p>
          <a:p>
            <a:pPr marL="0" indent="0">
              <a:buNone/>
            </a:pPr>
            <a:r>
              <a:rPr lang="en-IN" b="1" dirty="0"/>
              <a:t>5. SIP Continuity Analysis</a:t>
            </a:r>
          </a:p>
          <a:p>
            <a:r>
              <a:rPr lang="en-IN" dirty="0"/>
              <a:t>Identified investors with consistent SIP contributions. </a:t>
            </a:r>
          </a:p>
          <a:p>
            <a:pPr marL="0" indent="0">
              <a:buNone/>
            </a:pPr>
            <a:r>
              <a:rPr lang="en-IN" b="1" dirty="0"/>
              <a:t>6. HHI Concentration Index</a:t>
            </a:r>
          </a:p>
          <a:p>
            <a:r>
              <a:rPr lang="en-IN" dirty="0"/>
              <a:t>Measured concentration of assets across funds. </a:t>
            </a:r>
          </a:p>
          <a:p>
            <a:pPr marL="0" indent="0">
              <a:buNone/>
            </a:pPr>
            <a:r>
              <a:rPr lang="en-IN" b="1" dirty="0"/>
              <a:t>Deliverables Generated</a:t>
            </a:r>
          </a:p>
          <a:p>
            <a:pPr marL="0" indent="0">
              <a:buNone/>
            </a:pPr>
            <a:r>
              <a:rPr lang="en-IN" dirty="0"/>
              <a:t>  var_cvar_report.csv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rolling_sharpe_chart.png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</a:t>
            </a:r>
            <a:r>
              <a:rPr lang="en-IN" dirty="0" err="1"/>
              <a:t>Advanced_Analytics.ipynb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recommender.py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3700-C835-ECC0-1277-20058061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9" y="-316193"/>
            <a:ext cx="10515600" cy="1325563"/>
          </a:xfrm>
        </p:spPr>
        <p:txBody>
          <a:bodyPr/>
          <a:lstStyle/>
          <a:p>
            <a:r>
              <a:rPr lang="en-US" dirty="0"/>
              <a:t>Risk Analytics Results &amp; Insights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D23607-E7F9-81BA-46D3-7BE0E27212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412"/>
            <a:ext cx="6400800" cy="48768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9BAD2-0EEE-093C-E389-824336F9A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09370"/>
            <a:ext cx="5181600" cy="51675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High Sharpe Ratio funds delivered superior risk-adjusted performance. </a:t>
            </a:r>
          </a:p>
          <a:p>
            <a:r>
              <a:rPr lang="en-IN" dirty="0"/>
              <a:t>CVaR values were lower than </a:t>
            </a:r>
            <a:r>
              <a:rPr lang="en-IN" dirty="0" err="1"/>
              <a:t>VaR</a:t>
            </a:r>
            <a:r>
              <a:rPr lang="en-IN" dirty="0"/>
              <a:t>, indicating higher downside risk during market stress. </a:t>
            </a:r>
          </a:p>
          <a:p>
            <a:r>
              <a:rPr lang="en-IN" dirty="0"/>
              <a:t>Consistent SIP investors showed stronger investment discipline. </a:t>
            </a:r>
          </a:p>
          <a:p>
            <a:r>
              <a:rPr lang="en-IN" dirty="0"/>
              <a:t>A small number of funds controlled a large share of total AUM. </a:t>
            </a:r>
          </a:p>
          <a:p>
            <a:r>
              <a:rPr lang="en-IN" dirty="0"/>
              <a:t>Moderate-risk funds provided the best balance between return and volatility. </a:t>
            </a:r>
          </a:p>
          <a:p>
            <a:pPr marL="0" indent="0">
              <a:buNone/>
            </a:pPr>
            <a:r>
              <a:rPr lang="en-IN" b="1" dirty="0"/>
              <a:t>Business Impact</a:t>
            </a:r>
          </a:p>
          <a:p>
            <a:r>
              <a:rPr lang="en-IN" dirty="0"/>
              <a:t>Supports informed investment decisions. </a:t>
            </a:r>
          </a:p>
          <a:p>
            <a:r>
              <a:rPr lang="en-IN" dirty="0"/>
              <a:t>Helps identify high-performing mutual funds. </a:t>
            </a:r>
          </a:p>
          <a:p>
            <a:r>
              <a:rPr lang="en-IN" dirty="0"/>
              <a:t>Assists investors in understanding risk exposure. </a:t>
            </a:r>
          </a:p>
        </p:txBody>
      </p:sp>
    </p:spTree>
    <p:extLst>
      <p:ext uri="{BB962C8B-B14F-4D97-AF65-F5344CB8AC3E}">
        <p14:creationId xmlns:p14="http://schemas.microsoft.com/office/powerpoint/2010/main" val="130088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E032-8AFE-E9A8-1679-E72139D23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2" y="-293243"/>
            <a:ext cx="10515600" cy="1325563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FB2D8-068A-EABD-B66D-E6F46D47F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52" y="892936"/>
            <a:ext cx="10515600" cy="5690743"/>
          </a:xfrm>
        </p:spPr>
        <p:txBody>
          <a:bodyPr/>
          <a:lstStyle/>
          <a:p>
            <a:r>
              <a:rPr lang="en-US" dirty="0"/>
              <a:t>1. SBI Mutual Fund has highest AUM.</a:t>
            </a:r>
          </a:p>
          <a:p>
            <a:endParaRPr lang="en-US" dirty="0"/>
          </a:p>
          <a:p>
            <a:r>
              <a:rPr lang="en-US" dirty="0"/>
              <a:t>2. SIP investments increased steadily over time.</a:t>
            </a:r>
          </a:p>
          <a:p>
            <a:endParaRPr lang="en-US" dirty="0"/>
          </a:p>
          <a:p>
            <a:r>
              <a:rPr lang="en-US" dirty="0"/>
              <a:t>3. Equity funds outperform debt funds.</a:t>
            </a:r>
          </a:p>
          <a:p>
            <a:endParaRPr lang="en-US" dirty="0"/>
          </a:p>
          <a:p>
            <a:r>
              <a:rPr lang="en-US" dirty="0"/>
              <a:t>4. High-risk funds show higher volatility.</a:t>
            </a:r>
          </a:p>
          <a:p>
            <a:endParaRPr lang="en-US" dirty="0"/>
          </a:p>
          <a:p>
            <a:r>
              <a:rPr lang="en-US" dirty="0"/>
              <a:t>5. Expense ratio impacts long-term returns.</a:t>
            </a:r>
          </a:p>
          <a:p>
            <a:endParaRPr lang="en-US" dirty="0"/>
          </a:p>
          <a:p>
            <a:r>
              <a:rPr lang="en-US" dirty="0"/>
              <a:t>6. Strong correlation observed among equity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08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B85F-A073-1480-94C1-987CC464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-238379"/>
            <a:ext cx="10515600" cy="1325563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BF05BF-4A14-004D-49C2-35F5AFCF3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963629"/>
              </p:ext>
            </p:extLst>
          </p:nvPr>
        </p:nvGraphicFramePr>
        <p:xfrm>
          <a:off x="841248" y="877824"/>
          <a:ext cx="1051255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8656">
                  <a:extLst>
                    <a:ext uri="{9D8B030D-6E8A-4147-A177-3AD203B41FA5}">
                      <a16:colId xmlns:a16="http://schemas.microsoft.com/office/drawing/2014/main" val="3807082090"/>
                    </a:ext>
                  </a:extLst>
                </a:gridCol>
                <a:gridCol w="5263896">
                  <a:extLst>
                    <a:ext uri="{9D8B030D-6E8A-4147-A177-3AD203B41FA5}">
                      <a16:colId xmlns:a16="http://schemas.microsoft.com/office/drawing/2014/main" val="285055536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US" sz="3200" dirty="0"/>
                        <a:t>             Technology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              Purpose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4800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   Python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ETL and Analysis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61835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   Pandas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Data Processing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8703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   SQLite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Database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29472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</a:t>
                      </a:r>
                      <a:r>
                        <a:rPr lang="en-US" sz="2400" dirty="0" err="1"/>
                        <a:t>SQLAlchemy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Database Connection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4882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 Matplotlib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Visualization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11927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  Seaborn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Visualization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541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  Plotly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Interactive Charts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0028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  GitHub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    Version Control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673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424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E9A-8C70-7616-8CE6-C5BB141D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6939"/>
            <a:ext cx="10515600" cy="132556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0B97-C4D6-5C6D-7B17-6D2B9D8D4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" y="841248"/>
            <a:ext cx="10515600" cy="55961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Project Conclusion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Achievements</a:t>
            </a:r>
          </a:p>
          <a:p>
            <a:r>
              <a:rPr lang="en-IN" dirty="0"/>
              <a:t> Data Ingestion &amp; Processing</a:t>
            </a:r>
          </a:p>
          <a:p>
            <a:r>
              <a:rPr lang="en-IN" dirty="0"/>
              <a:t> Data Cleaning &amp; Validation</a:t>
            </a:r>
          </a:p>
          <a:p>
            <a:r>
              <a:rPr lang="en-IN" dirty="0"/>
              <a:t> Exploratory Data Analysis</a:t>
            </a:r>
          </a:p>
          <a:p>
            <a:r>
              <a:rPr lang="en-IN" dirty="0"/>
              <a:t> Performance Analytics</a:t>
            </a:r>
          </a:p>
          <a:p>
            <a:r>
              <a:rPr lang="en-IN" dirty="0"/>
              <a:t> Power BI Dashboard Development</a:t>
            </a:r>
          </a:p>
          <a:p>
            <a:r>
              <a:rPr lang="en-IN" dirty="0"/>
              <a:t> Advanced Risk Analytics</a:t>
            </a:r>
          </a:p>
          <a:p>
            <a:pPr marL="0" indent="0">
              <a:buNone/>
            </a:pPr>
            <a:r>
              <a:rPr lang="en-IN" b="1" dirty="0"/>
              <a:t>Final Outcome</a:t>
            </a:r>
          </a:p>
          <a:p>
            <a:pPr marL="0" indent="0">
              <a:buNone/>
            </a:pPr>
            <a:r>
              <a:rPr lang="en-IN" dirty="0"/>
              <a:t>   Developed a complete Mutual Fund Analytics Platform capable of:</a:t>
            </a:r>
          </a:p>
          <a:p>
            <a:r>
              <a:rPr lang="en-IN" dirty="0"/>
              <a:t>Data Processing </a:t>
            </a:r>
          </a:p>
          <a:p>
            <a:r>
              <a:rPr lang="en-IN" dirty="0"/>
              <a:t>Risk Assessment </a:t>
            </a:r>
          </a:p>
          <a:p>
            <a:r>
              <a:rPr lang="en-IN" dirty="0"/>
              <a:t>Performance Evaluation </a:t>
            </a:r>
          </a:p>
          <a:p>
            <a:r>
              <a:rPr lang="en-IN" dirty="0"/>
              <a:t>Investor Analytics </a:t>
            </a:r>
          </a:p>
          <a:p>
            <a:r>
              <a:rPr lang="en-IN" dirty="0"/>
              <a:t>Interactive Dashboard Reporting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</a:t>
            </a:r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856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899</Words>
  <Application>Microsoft Office PowerPoint</Application>
  <PresentationFormat>Widescreen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Mutual Fund Analytics Project</vt:lpstr>
      <vt:lpstr>Project Overview :- </vt:lpstr>
      <vt:lpstr>Project Architecture</vt:lpstr>
      <vt:lpstr>Dataset Description</vt:lpstr>
      <vt:lpstr>Day 1 - ETL &amp; Data Ingestion</vt:lpstr>
      <vt:lpstr>Day 2 - Data Cleaning &amp; SQL Database Design</vt:lpstr>
      <vt:lpstr>Day 3 -Exploratory Data Analysis</vt:lpstr>
      <vt:lpstr>Day 4 - Fund Performance Analytics</vt:lpstr>
      <vt:lpstr>Day 5- Interactive Power BI Dashboard</vt:lpstr>
      <vt:lpstr>PowerPoint Presentation</vt:lpstr>
      <vt:lpstr>Day 6- Advanced Analytics &amp; Risk Assessment</vt:lpstr>
      <vt:lpstr>Risk Analytics Results &amp; Insights</vt:lpstr>
      <vt:lpstr>Key Insights</vt:lpstr>
      <vt:lpstr>Technologies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gophanesandip529@gmail.com</dc:creator>
  <cp:lastModifiedBy>gophanesandip529@gmail.com</cp:lastModifiedBy>
  <cp:revision>2</cp:revision>
  <dcterms:created xsi:type="dcterms:W3CDTF">2026-06-06T05:57:34Z</dcterms:created>
  <dcterms:modified xsi:type="dcterms:W3CDTF">2026-06-15T15:04:14Z</dcterms:modified>
</cp:coreProperties>
</file>